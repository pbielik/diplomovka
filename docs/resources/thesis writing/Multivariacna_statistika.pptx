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73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podnadpisov</a:t>
            </a:r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6A93-D90D-4C63-BBB5-A9054EFB58D5}" type="datetimeFigureOut">
              <a:rPr lang="sk-SK" smtClean="0"/>
              <a:t>22. 10. 2025</a:t>
            </a:fld>
            <a:endParaRPr lang="sk-SK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FEB0-2070-40EF-9438-F00EFD9888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6312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6A93-D90D-4C63-BBB5-A9054EFB58D5}" type="datetimeFigureOut">
              <a:rPr lang="sk-SK" smtClean="0"/>
              <a:t>22. 10. 2025</a:t>
            </a:fld>
            <a:endParaRPr lang="sk-SK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FEB0-2070-40EF-9438-F00EFD9888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36015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Upraviť štýly predlohy textu</a:t>
            </a:r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6A93-D90D-4C63-BBB5-A9054EFB58D5}" type="datetimeFigureOut">
              <a:rPr lang="sk-SK" smtClean="0"/>
              <a:t>22. 10. 2025</a:t>
            </a:fld>
            <a:endParaRPr lang="sk-SK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FEB0-2070-40EF-9438-F00EFD9888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56833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6A93-D90D-4C63-BBB5-A9054EFB58D5}" type="datetimeFigureOut">
              <a:rPr lang="sk-SK" smtClean="0"/>
              <a:t>22. 10. 2025</a:t>
            </a:fld>
            <a:endParaRPr lang="sk-SK"/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FEB0-2070-40EF-9438-F00EFD9888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01895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Upraviť štýly predlohy textu</a:t>
            </a:r>
          </a:p>
        </p:txBody>
      </p:sp>
      <p:sp>
        <p:nvSpPr>
          <p:cNvPr id="4" name="Zástupný objekt pre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Upraviť štýly predlohy textu</a:t>
            </a:r>
          </a:p>
        </p:txBody>
      </p:sp>
      <p:sp>
        <p:nvSpPr>
          <p:cNvPr id="6" name="Zástupný objekt pre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6A93-D90D-4C63-BBB5-A9054EFB58D5}" type="datetimeFigureOut">
              <a:rPr lang="sk-SK" smtClean="0"/>
              <a:t>22. 10. 2025</a:t>
            </a:fld>
            <a:endParaRPr lang="sk-SK"/>
          </a:p>
        </p:txBody>
      </p:sp>
      <p:sp>
        <p:nvSpPr>
          <p:cNvPr id="8" name="Zástupný objekt pre pät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FEB0-2070-40EF-9438-F00EFD9888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58153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dá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6A93-D90D-4C63-BBB5-A9054EFB58D5}" type="datetimeFigureOut">
              <a:rPr lang="sk-SK" smtClean="0"/>
              <a:t>22. 10. 2025</a:t>
            </a:fld>
            <a:endParaRPr lang="sk-SK"/>
          </a:p>
        </p:txBody>
      </p:sp>
      <p:sp>
        <p:nvSpPr>
          <p:cNvPr id="4" name="Zástupný objekt pre pät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FEB0-2070-40EF-9438-F00EFD9888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94103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6A93-D90D-4C63-BBB5-A9054EFB58D5}" type="datetimeFigureOut">
              <a:rPr lang="sk-SK" smtClean="0"/>
              <a:t>22. 10. 2025</a:t>
            </a:fld>
            <a:endParaRPr lang="sk-SK"/>
          </a:p>
        </p:txBody>
      </p:sp>
      <p:sp>
        <p:nvSpPr>
          <p:cNvPr id="3" name="Zástupný objekt pre pät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FEB0-2070-40EF-9438-F00EFD9888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191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Upraviť štýly predlohy textu</a:t>
            </a:r>
          </a:p>
        </p:txBody>
      </p:sp>
      <p:sp>
        <p:nvSpPr>
          <p:cNvPr id="5" name="Zástupný objekt pre dá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6A93-D90D-4C63-BBB5-A9054EFB58D5}" type="datetimeFigureOut">
              <a:rPr lang="sk-SK" smtClean="0"/>
              <a:t>22. 10. 2025</a:t>
            </a:fld>
            <a:endParaRPr lang="sk-SK"/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FEB0-2070-40EF-9438-F00EFD9888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350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obrázo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objekt pre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Upraviť štýly predlohy textu</a:t>
            </a:r>
          </a:p>
        </p:txBody>
      </p:sp>
      <p:sp>
        <p:nvSpPr>
          <p:cNvPr id="5" name="Zástupný objekt pre dá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6A93-D90D-4C63-BBB5-A9054EFB58D5}" type="datetimeFigureOut">
              <a:rPr lang="sk-SK" smtClean="0"/>
              <a:t>22. 10. 2025</a:t>
            </a:fld>
            <a:endParaRPr lang="sk-SK"/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FEB0-2070-40EF-9438-F00EFD9888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7162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z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6A93-D90D-4C63-BBB5-A9054EFB58D5}" type="datetimeFigureOut">
              <a:rPr lang="sk-SK" smtClean="0"/>
              <a:t>22. 10. 2025</a:t>
            </a:fld>
            <a:endParaRPr lang="sk-SK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FEB0-2070-40EF-9438-F00EFD9888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1498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z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6A93-D90D-4C63-BBB5-A9054EFB58D5}" type="datetimeFigureOut">
              <a:rPr lang="sk-SK" smtClean="0"/>
              <a:t>22. 10. 2025</a:t>
            </a:fld>
            <a:endParaRPr lang="sk-SK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9FEB0-2070-40EF-9438-F00EFD9888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4940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Upravte štýly predlohy textu</a:t>
            </a:r>
          </a:p>
        </p:txBody>
      </p:sp>
      <p:sp>
        <p:nvSpPr>
          <p:cNvPr id="3" name="Zástupný objekt pre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96A93-D90D-4C63-BBB5-A9054EFB58D5}" type="datetimeFigureOut">
              <a:rPr lang="sk-SK" smtClean="0"/>
              <a:t>22. 10. 2025</a:t>
            </a:fld>
            <a:endParaRPr lang="sk-SK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9FEB0-2070-40EF-9438-F00EFD98883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64459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Jednoduchá lineárna regresia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16959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CIELE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sz="3500" dirty="0"/>
          </a:p>
          <a:p>
            <a:pPr marL="0" indent="0">
              <a:buNone/>
            </a:pPr>
            <a:r>
              <a:rPr lang="sk-SK" sz="3500" dirty="0"/>
              <a:t>Zistiť percento vysvetlenej </a:t>
            </a:r>
            <a:r>
              <a:rPr lang="sk-SK" sz="3500" dirty="0" err="1"/>
              <a:t>variancie</a:t>
            </a:r>
            <a:r>
              <a:rPr lang="sk-SK" sz="3500" dirty="0"/>
              <a:t> závislej premennej </a:t>
            </a:r>
          </a:p>
          <a:p>
            <a:pPr marL="0" indent="0">
              <a:buNone/>
            </a:pPr>
            <a:endParaRPr lang="sk-SK" sz="3500" dirty="0"/>
          </a:p>
          <a:p>
            <a:pPr marL="0" indent="0">
              <a:buNone/>
            </a:pPr>
            <a:r>
              <a:rPr lang="sk-SK" sz="3500" dirty="0"/>
              <a:t>Predikcia – akú hodnotu bude mať závislá premenná Y, ak budeme vedieť hodnotu nezávislej premennej X?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883058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Podmienky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sz="3000" dirty="0"/>
              <a:t>1. Vzťah medzi premennými je lineárny.</a:t>
            </a:r>
          </a:p>
          <a:p>
            <a:pPr marL="0" indent="0">
              <a:buNone/>
            </a:pPr>
            <a:r>
              <a:rPr lang="sk-SK" sz="3000" dirty="0"/>
              <a:t>2. Závislá premenná je kardinálna.</a:t>
            </a:r>
          </a:p>
          <a:p>
            <a:pPr marL="0" indent="0">
              <a:buNone/>
            </a:pPr>
            <a:r>
              <a:rPr lang="sk-SK" sz="3000" dirty="0"/>
              <a:t>3. Distribúcia dát je </a:t>
            </a:r>
            <a:r>
              <a:rPr lang="sk-SK" sz="3000" dirty="0" err="1"/>
              <a:t>gaussovská</a:t>
            </a:r>
            <a:r>
              <a:rPr lang="sk-SK" sz="3000" dirty="0"/>
              <a:t>.</a:t>
            </a:r>
          </a:p>
          <a:p>
            <a:pPr marL="0" indent="0">
              <a:buNone/>
            </a:pPr>
            <a:r>
              <a:rPr lang="sk-SK" sz="3000" dirty="0"/>
              <a:t>4. Nezávislá premenná je kardinálna alebo nominálna – dichotomická.</a:t>
            </a:r>
          </a:p>
          <a:p>
            <a:pPr marL="0" indent="0">
              <a:buNone/>
            </a:pPr>
            <a:r>
              <a:rPr lang="sk-SK" sz="3000" dirty="0"/>
              <a:t>5. Rozptyl jednej premennej by mal byť rovnaký pre každú kategóriu nezávislej premennej (</a:t>
            </a:r>
            <a:r>
              <a:rPr lang="sk-SK" sz="3000" dirty="0" err="1"/>
              <a:t>homoskedasticita</a:t>
            </a:r>
            <a:r>
              <a:rPr lang="sk-SK" sz="3000" dirty="0"/>
              <a:t>). 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470324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k-SK" dirty="0"/>
              <a:t>Výsledky regresnej analýzy môžu byť skreslené:</a:t>
            </a:r>
            <a:br>
              <a:rPr lang="sk-SK" dirty="0"/>
            </a:br>
            <a:endParaRPr lang="sk-SK" dirty="0"/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sz="3000" dirty="0"/>
              <a:t>1. </a:t>
            </a:r>
            <a:r>
              <a:rPr lang="sk-SK" sz="3000" dirty="0" err="1"/>
              <a:t>Nelinearitou</a:t>
            </a:r>
            <a:r>
              <a:rPr lang="sk-SK" sz="3000" dirty="0"/>
              <a:t> vzťahu</a:t>
            </a:r>
          </a:p>
          <a:p>
            <a:pPr marL="0" indent="0">
              <a:buNone/>
            </a:pPr>
            <a:r>
              <a:rPr lang="sk-SK" sz="3000" dirty="0"/>
              <a:t>2. Odľahlými hodnotami</a:t>
            </a:r>
          </a:p>
          <a:p>
            <a:pPr marL="0" indent="0">
              <a:buNone/>
            </a:pPr>
            <a:r>
              <a:rPr lang="sk-SK" sz="3000" dirty="0"/>
              <a:t>3. Prítomnosťou </a:t>
            </a:r>
            <a:r>
              <a:rPr lang="sk-SK" sz="3000" dirty="0" err="1"/>
              <a:t>subpopulácií</a:t>
            </a:r>
            <a:r>
              <a:rPr lang="sk-SK" sz="3000" dirty="0"/>
              <a:t> – heterogenitou súboru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10732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Postup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sk-SK" sz="3000" dirty="0"/>
              <a:t>Opíšeme vzťah medzi premennými, a to nájdením priamky, ktorá najlepšie vystihuje priebeh vzťahu.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11915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Regresná rovnica:</a:t>
            </a:r>
            <a:br>
              <a:rPr lang="sk-SK" dirty="0"/>
            </a:br>
            <a:endParaRPr lang="sk-SK" dirty="0"/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/>
              <a:t>Y = b0 + b1 x </a:t>
            </a:r>
            <a:r>
              <a:rPr lang="sk-SK" dirty="0" err="1"/>
              <a:t>X</a:t>
            </a:r>
            <a:endParaRPr lang="sk-SK" dirty="0"/>
          </a:p>
          <a:p>
            <a:pPr marL="0" indent="0">
              <a:buNone/>
            </a:pPr>
            <a:r>
              <a:rPr lang="sk-SK" dirty="0"/>
              <a:t> </a:t>
            </a:r>
          </a:p>
          <a:p>
            <a:pPr marL="0" indent="0">
              <a:buNone/>
            </a:pPr>
            <a:r>
              <a:rPr lang="sk-SK" dirty="0"/>
              <a:t>Y = závislá premenná</a:t>
            </a:r>
          </a:p>
          <a:p>
            <a:pPr marL="0" indent="0">
              <a:buNone/>
            </a:pPr>
            <a:r>
              <a:rPr lang="sk-SK" dirty="0"/>
              <a:t>b0 – v akom bode priamka pretína vertikálnu os Y</a:t>
            </a:r>
          </a:p>
          <a:p>
            <a:pPr marL="0" indent="0">
              <a:buNone/>
            </a:pPr>
            <a:r>
              <a:rPr lang="sk-SK" dirty="0"/>
              <a:t>b1 – regresný koeficient – o koľko sa zmení hodnota Y, ak sa X zmení o 1</a:t>
            </a:r>
          </a:p>
          <a:p>
            <a:pPr marL="0" indent="0">
              <a:buNone/>
            </a:pPr>
            <a:r>
              <a:rPr lang="sk-SK" dirty="0"/>
              <a:t>X – nezávislá premenná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82581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pic>
        <p:nvPicPr>
          <p:cNvPr id="4" name="Zástupný objekt pre obsah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09" y="365125"/>
            <a:ext cx="9431381" cy="6240804"/>
          </a:xfrm>
        </p:spPr>
      </p:pic>
    </p:spTree>
    <p:extLst>
      <p:ext uri="{BB962C8B-B14F-4D97-AF65-F5344CB8AC3E}">
        <p14:creationId xmlns:p14="http://schemas.microsoft.com/office/powerpoint/2010/main" val="1214697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Výstupy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R – korelačný koeficient</a:t>
            </a:r>
          </a:p>
          <a:p>
            <a:pPr marL="0" indent="0">
              <a:buNone/>
            </a:pPr>
            <a:r>
              <a:rPr lang="sk-SK" dirty="0"/>
              <a:t>R2 koeficient determinácie </a:t>
            </a:r>
          </a:p>
          <a:p>
            <a:pPr marL="0" indent="0">
              <a:buNone/>
            </a:pPr>
            <a:r>
              <a:rPr lang="sk-SK" dirty="0" err="1"/>
              <a:t>Sig</a:t>
            </a:r>
            <a:r>
              <a:rPr lang="sk-SK" dirty="0"/>
              <a:t>. </a:t>
            </a:r>
            <a:r>
              <a:rPr lang="sk-SK"/>
              <a:t>– štatistická </a:t>
            </a:r>
            <a:r>
              <a:rPr lang="sk-SK" dirty="0"/>
              <a:t>významnosť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Parametre:</a:t>
            </a:r>
          </a:p>
          <a:p>
            <a:pPr marL="0" indent="0">
              <a:buNone/>
            </a:pPr>
            <a:r>
              <a:rPr lang="sk-SK" dirty="0"/>
              <a:t>Konštanta – </a:t>
            </a:r>
            <a:r>
              <a:rPr lang="sk-SK" dirty="0" err="1"/>
              <a:t>Constant</a:t>
            </a:r>
            <a:r>
              <a:rPr lang="sk-SK" dirty="0"/>
              <a:t>  -  b0 – priesečník s osou Y</a:t>
            </a:r>
          </a:p>
          <a:p>
            <a:pPr marL="0" indent="0">
              <a:buNone/>
            </a:pPr>
            <a:r>
              <a:rPr lang="sk-SK" dirty="0"/>
              <a:t>Neštandardizované koeficienty - </a:t>
            </a:r>
            <a:r>
              <a:rPr lang="sk-SK" dirty="0" err="1"/>
              <a:t>Unstandardized</a:t>
            </a:r>
            <a:r>
              <a:rPr lang="sk-SK" dirty="0"/>
              <a:t> </a:t>
            </a:r>
            <a:r>
              <a:rPr lang="sk-SK" dirty="0" err="1"/>
              <a:t>Coefficients</a:t>
            </a:r>
            <a:r>
              <a:rPr lang="sk-SK" dirty="0"/>
              <a:t> – B – sklon priamky – o koľko sa zmení hodnota závislej premennej, ak hodnota nezávislej premennej vzrastie o 1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51283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Viacnásobná lineárna regresia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52699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sz="3000" dirty="0"/>
              <a:t>Vzťah medzi </a:t>
            </a:r>
            <a:r>
              <a:rPr lang="sk-SK" sz="3000" dirty="0" err="1"/>
              <a:t>sadou</a:t>
            </a:r>
            <a:r>
              <a:rPr lang="sk-SK" sz="3000" dirty="0"/>
              <a:t> nezávislých premenných a jednou závislou premennou</a:t>
            </a:r>
          </a:p>
          <a:p>
            <a:pPr marL="0" indent="0">
              <a:buNone/>
            </a:pPr>
            <a:endParaRPr lang="sk-SK" sz="3000" dirty="0"/>
          </a:p>
          <a:p>
            <a:pPr marL="0" indent="0">
              <a:buNone/>
            </a:pPr>
            <a:r>
              <a:rPr lang="sk-SK" sz="3000" dirty="0"/>
              <a:t>Y = b0 + b1 x X1 + b2xX2 + b3xX3+ ... </a:t>
            </a:r>
            <a:r>
              <a:rPr lang="sk-SK" sz="3000" dirty="0" err="1"/>
              <a:t>bn</a:t>
            </a:r>
            <a:r>
              <a:rPr lang="sk-SK" sz="3000" dirty="0"/>
              <a:t> x </a:t>
            </a:r>
            <a:r>
              <a:rPr lang="sk-SK" sz="3000" dirty="0" err="1"/>
              <a:t>Xn</a:t>
            </a:r>
            <a:endParaRPr lang="sk-SK" sz="3000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79234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Ciele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Vysvetliť </a:t>
            </a:r>
            <a:r>
              <a:rPr lang="sk-SK" dirty="0" err="1"/>
              <a:t>varianciu</a:t>
            </a:r>
            <a:r>
              <a:rPr lang="sk-SK" dirty="0"/>
              <a:t> závislej premennej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Zistiť hodnotu neštandardizovaných koeficientov B 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Zistiť relatívnu váhu nezávislých premenných (štandardizované koeficienty)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Predikcia hodnôt závislej premennej</a:t>
            </a:r>
          </a:p>
          <a:p>
            <a:pPr marL="514350" indent="-514350">
              <a:buFont typeface="+mj-lt"/>
              <a:buAutoNum type="arabicPeriod"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940698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Predpoklady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/>
              <a:t>1. Závislá premenná musí byť kardinálna</a:t>
            </a:r>
          </a:p>
          <a:p>
            <a:pPr marL="0" indent="0">
              <a:buNone/>
            </a:pPr>
            <a:r>
              <a:rPr lang="sk-SK" dirty="0"/>
              <a:t>2. Nezávislé premenné sú kardinálne alebo nominálne – dichotomické</a:t>
            </a:r>
          </a:p>
          <a:p>
            <a:pPr marL="0" indent="0">
              <a:buNone/>
            </a:pPr>
            <a:r>
              <a:rPr lang="sk-SK" dirty="0"/>
              <a:t>3. Medzi nezávislými premennými by nemal existovať silný vzťah </a:t>
            </a:r>
          </a:p>
          <a:p>
            <a:pPr marL="0" indent="0">
              <a:buNone/>
            </a:pPr>
            <a:r>
              <a:rPr lang="sk-SK" dirty="0"/>
              <a:t>4. </a:t>
            </a:r>
            <a:r>
              <a:rPr lang="sk-SK" dirty="0" err="1"/>
              <a:t>Linearita</a:t>
            </a:r>
            <a:r>
              <a:rPr lang="sk-SK" dirty="0"/>
              <a:t> vzťahu</a:t>
            </a:r>
          </a:p>
          <a:p>
            <a:pPr marL="0" indent="0">
              <a:buNone/>
            </a:pPr>
            <a:r>
              <a:rPr lang="sk-SK" dirty="0"/>
              <a:t>5. </a:t>
            </a:r>
            <a:r>
              <a:rPr lang="sk-SK" dirty="0" err="1"/>
              <a:t>Homoskedasticita</a:t>
            </a:r>
            <a:endParaRPr lang="sk-SK" dirty="0"/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70840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Počet participantov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10 participantov na </a:t>
            </a:r>
            <a:r>
              <a:rPr lang="sk-SK" dirty="0" err="1"/>
              <a:t>prediktor</a:t>
            </a:r>
            <a:r>
              <a:rPr lang="sk-SK" dirty="0"/>
              <a:t> (+konštanta)</a:t>
            </a:r>
          </a:p>
          <a:p>
            <a:pPr marL="0" indent="0">
              <a:buNone/>
            </a:pPr>
            <a:r>
              <a:rPr lang="sk-SK" dirty="0"/>
              <a:t>20 participantov na </a:t>
            </a:r>
            <a:r>
              <a:rPr lang="sk-SK" dirty="0" err="1"/>
              <a:t>prediktor</a:t>
            </a:r>
            <a:r>
              <a:rPr lang="sk-SK" dirty="0"/>
              <a:t> (+konštanta)</a:t>
            </a:r>
          </a:p>
          <a:p>
            <a:pPr marL="0" indent="0">
              <a:buNone/>
            </a:pPr>
            <a:r>
              <a:rPr lang="sk-SK" dirty="0"/>
              <a:t>104 + k (počet </a:t>
            </a:r>
            <a:r>
              <a:rPr lang="sk-SK" dirty="0" err="1"/>
              <a:t>prediktorov</a:t>
            </a:r>
            <a:r>
              <a:rPr lang="sk-SK" dirty="0"/>
              <a:t>) 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264354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Multikolinearita</a:t>
            </a:r>
            <a:endParaRPr lang="sk-SK" dirty="0"/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hodnoty korelačných koeficientov </a:t>
            </a:r>
          </a:p>
          <a:p>
            <a:r>
              <a:rPr lang="sk-SK" dirty="0"/>
              <a:t>variačný inflačný faktor VIF (nemal by byť 5 a viac) </a:t>
            </a:r>
          </a:p>
          <a:p>
            <a:r>
              <a:rPr lang="sk-SK" dirty="0"/>
              <a:t>tolerancia (nemala by byť menšia ako 0,2) 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836325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3000" dirty="0"/>
              <a:t>Metóda </a:t>
            </a:r>
            <a:r>
              <a:rPr lang="sk-SK" sz="3000" dirty="0" err="1"/>
              <a:t>Enter</a:t>
            </a:r>
            <a:r>
              <a:rPr lang="sk-SK" sz="3000" dirty="0"/>
              <a:t>   </a:t>
            </a:r>
          </a:p>
          <a:p>
            <a:r>
              <a:rPr lang="sk-SK" sz="3000" dirty="0"/>
              <a:t>Metóda </a:t>
            </a:r>
            <a:r>
              <a:rPr lang="sk-SK" sz="3000" dirty="0" err="1"/>
              <a:t>Stepwise</a:t>
            </a:r>
            <a:r>
              <a:rPr lang="sk-SK" sz="3000" dirty="0"/>
              <a:t>  </a:t>
            </a:r>
          </a:p>
          <a:p>
            <a:r>
              <a:rPr lang="sk-SK" sz="3000" dirty="0"/>
              <a:t>Metóda hierarchická – v blokoch 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497341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Parametre 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3000" dirty="0"/>
              <a:t>Konštanta – </a:t>
            </a:r>
            <a:r>
              <a:rPr lang="sk-SK" sz="3000" dirty="0" err="1"/>
              <a:t>Constant</a:t>
            </a:r>
            <a:r>
              <a:rPr lang="sk-SK" sz="3000" dirty="0"/>
              <a:t>  -  b0 – priesečník s osou Y</a:t>
            </a:r>
          </a:p>
          <a:p>
            <a:r>
              <a:rPr lang="sk-SK" sz="3000" dirty="0"/>
              <a:t>Neštandardizované koeficienty - </a:t>
            </a:r>
            <a:r>
              <a:rPr lang="sk-SK" sz="3000" dirty="0" err="1"/>
              <a:t>Unstandardized</a:t>
            </a:r>
            <a:r>
              <a:rPr lang="sk-SK" sz="3000" dirty="0"/>
              <a:t> </a:t>
            </a:r>
            <a:r>
              <a:rPr lang="sk-SK" sz="3000" dirty="0" err="1"/>
              <a:t>Coefficients</a:t>
            </a:r>
            <a:r>
              <a:rPr lang="sk-SK" sz="3000" dirty="0"/>
              <a:t> – B – sklon priamky – o koľko sa zmení hodnota závislej premennej, ak hodnota nezávislej premennej vzrastie o 1</a:t>
            </a:r>
          </a:p>
          <a:p>
            <a:r>
              <a:rPr lang="sk-SK" sz="3000" dirty="0"/>
              <a:t>Štandardizované koeficienta Beta – relatívna váha premenných </a:t>
            </a:r>
          </a:p>
          <a:p>
            <a:r>
              <a:rPr lang="sk-SK" sz="3000" dirty="0"/>
              <a:t>∆R</a:t>
            </a:r>
            <a:r>
              <a:rPr lang="sk-SK" sz="3000" baseline="30000" dirty="0"/>
              <a:t>2 </a:t>
            </a:r>
            <a:r>
              <a:rPr lang="sk-SK" sz="3000" dirty="0"/>
              <a:t> - zmena v hodnote koeficienta R2</a:t>
            </a:r>
          </a:p>
          <a:p>
            <a:r>
              <a:rPr lang="sk-SK" sz="3000" dirty="0" err="1"/>
              <a:t>Adj</a:t>
            </a:r>
            <a:r>
              <a:rPr lang="sk-SK" sz="3000" dirty="0"/>
              <a:t>. R2 – populačný odhad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243025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sk-SK" sz="5000" dirty="0"/>
              <a:t>Klastrová analýza</a:t>
            </a:r>
          </a:p>
          <a:p>
            <a:pPr algn="ctr"/>
            <a:endParaRPr lang="sk-SK" sz="5000" dirty="0"/>
          </a:p>
          <a:p>
            <a:pPr marL="0" indent="0" algn="ctr">
              <a:buNone/>
            </a:pPr>
            <a:r>
              <a:rPr lang="sk-SK" sz="5000" dirty="0"/>
              <a:t>K-</a:t>
            </a:r>
            <a:r>
              <a:rPr lang="sk-SK" sz="5000" dirty="0" err="1"/>
              <a:t>Means</a:t>
            </a:r>
            <a:endParaRPr lang="sk-SK" sz="5000" dirty="0"/>
          </a:p>
        </p:txBody>
      </p:sp>
    </p:spTree>
    <p:extLst>
      <p:ext uri="{BB962C8B-B14F-4D97-AF65-F5344CB8AC3E}">
        <p14:creationId xmlns:p14="http://schemas.microsoft.com/office/powerpoint/2010/main" val="2656842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Charakteristika metódy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 dirty="0"/>
          </a:p>
          <a:p>
            <a:pPr marL="0" indent="0">
              <a:buNone/>
            </a:pPr>
            <a:r>
              <a:rPr lang="sk-SK" dirty="0"/>
              <a:t>nehierarchická metóda</a:t>
            </a:r>
          </a:p>
          <a:p>
            <a:endParaRPr lang="sk-SK" dirty="0"/>
          </a:p>
          <a:p>
            <a:endParaRPr lang="sk-SK" dirty="0"/>
          </a:p>
          <a:p>
            <a:pPr marL="0" indent="0">
              <a:buNone/>
            </a:pPr>
            <a:r>
              <a:rPr lang="sk-SK" dirty="0"/>
              <a:t>heuristická metóda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25652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Postup 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 dirty="0"/>
          </a:p>
          <a:p>
            <a:pPr marL="0" indent="0">
              <a:lnSpc>
                <a:spcPct val="150000"/>
              </a:lnSpc>
              <a:buNone/>
            </a:pPr>
            <a:endParaRPr lang="sk-SK" dirty="0"/>
          </a:p>
          <a:p>
            <a:pPr marL="0" indent="0">
              <a:lnSpc>
                <a:spcPct val="150000"/>
              </a:lnSpc>
              <a:buNone/>
            </a:pPr>
            <a:r>
              <a:rPr lang="sk-SK" dirty="0"/>
              <a:t>1. Výber centier klastrov + priradenie objektu k zhluku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k-SK" dirty="0"/>
              <a:t>2. Prepočítavanie a opakovanie algoritmu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sk-SK" dirty="0"/>
              <a:t>3. Optimálne riešenie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100598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Nevýhody</a:t>
            </a:r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sk-SK" dirty="0"/>
              <a:t>Princíp výpočtu (aritmetický priemer)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sk-SK" dirty="0"/>
              <a:t>Metóda je citlivá na jednotky merania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sk-SK" dirty="0"/>
              <a:t>Riziko „</a:t>
            </a:r>
            <a:r>
              <a:rPr lang="sk-SK" dirty="0" err="1"/>
              <a:t>stigmatizácie</a:t>
            </a:r>
            <a:r>
              <a:rPr lang="sk-SK" dirty="0"/>
              <a:t>“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sk-SK" dirty="0"/>
              <a:t>Nemožnosť zovšeobecnenia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84550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 dirty="0"/>
          </a:p>
          <a:p>
            <a:pPr marL="0" indent="0">
              <a:buNone/>
            </a:pPr>
            <a:r>
              <a:rPr lang="sk-SK" dirty="0"/>
              <a:t>https://www.naftaliharris.com/blog/visualizing-k-means-clustering/</a:t>
            </a:r>
          </a:p>
        </p:txBody>
      </p:sp>
    </p:spTree>
    <p:extLst>
      <p:ext uri="{BB962C8B-B14F-4D97-AF65-F5344CB8AC3E}">
        <p14:creationId xmlns:p14="http://schemas.microsoft.com/office/powerpoint/2010/main" val="2551419212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480</Words>
  <Application>Microsoft Office PowerPoint</Application>
  <PresentationFormat>Širokouhlá</PresentationFormat>
  <Paragraphs>88</Paragraphs>
  <Slides>21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Motív balíka Office</vt:lpstr>
      <vt:lpstr>Jednoduchá lineárna regresia</vt:lpstr>
      <vt:lpstr>CIELE</vt:lpstr>
      <vt:lpstr>Podmienky</vt:lpstr>
      <vt:lpstr>Výsledky regresnej analýzy môžu byť skreslené: </vt:lpstr>
      <vt:lpstr>Postup</vt:lpstr>
      <vt:lpstr>Regresná rovnica: </vt:lpstr>
      <vt:lpstr>Prezentácia programu PowerPoint</vt:lpstr>
      <vt:lpstr>Výstupy</vt:lpstr>
      <vt:lpstr>Viacnásobná lineárna regresia</vt:lpstr>
      <vt:lpstr>Prezentácia programu PowerPoint</vt:lpstr>
      <vt:lpstr>Ciele</vt:lpstr>
      <vt:lpstr>Predpoklady</vt:lpstr>
      <vt:lpstr>Počet participantov</vt:lpstr>
      <vt:lpstr>Multikolinearita</vt:lpstr>
      <vt:lpstr>Prezentácia programu PowerPoint</vt:lpstr>
      <vt:lpstr>Parametre </vt:lpstr>
      <vt:lpstr>Prezentácia programu PowerPoint</vt:lpstr>
      <vt:lpstr>Charakteristika metódy</vt:lpstr>
      <vt:lpstr>Postup </vt:lpstr>
      <vt:lpstr>Nevýhody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Prezentácia programu PowerPoint</dc:title>
  <dc:creator>neurologia</dc:creator>
  <cp:lastModifiedBy>PhDr. Veronika Boleková, PhD.</cp:lastModifiedBy>
  <cp:revision>11</cp:revision>
  <dcterms:created xsi:type="dcterms:W3CDTF">2023-10-22T15:50:12Z</dcterms:created>
  <dcterms:modified xsi:type="dcterms:W3CDTF">2025-10-22T18:24:18Z</dcterms:modified>
</cp:coreProperties>
</file>