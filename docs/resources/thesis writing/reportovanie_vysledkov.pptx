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69" r:id="rId4"/>
    <p:sldId id="270" r:id="rId5"/>
    <p:sldId id="272" r:id="rId6"/>
    <p:sldId id="266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73" r:id="rId15"/>
    <p:sldId id="274" r:id="rId16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3" d="100"/>
          <a:sy n="83" d="100"/>
        </p:scale>
        <p:origin x="55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podnadpisov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51479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9251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8926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695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4" name="Zástupný objekt pre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6" name="Zástupný objekt pre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8" name="Zástupný objekt pre pät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7216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dá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4" name="Zástupný objekt pre pät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1414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3" name="Zástupný objekt pre pät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77017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5" name="Zástupný objekt pre dá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1526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obrázo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5" name="Zástupný objekt pre dá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1358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z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6459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z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3027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7AD38-A554-4268-AE13-FC3C4C5B5BB4}" type="datetimeFigureOut">
              <a:rPr lang="sk-SK" smtClean="0"/>
              <a:t>1. 12. 2025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64DDB-1C49-4035-940E-1BE051A5B7C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8436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7CC8686A-71C9-E267-B608-53C9541CF9E5}"/>
              </a:ext>
            </a:extLst>
          </p:cNvPr>
          <p:cNvSpPr txBox="1"/>
          <p:nvPr/>
        </p:nvSpPr>
        <p:spPr>
          <a:xfrm>
            <a:off x="577272" y="544829"/>
            <a:ext cx="11037455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cs-CZ" sz="3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Akým</a:t>
            </a:r>
            <a:r>
              <a:rPr lang="cs-CZ" sz="3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3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spôsobom</a:t>
            </a:r>
            <a:r>
              <a:rPr lang="cs-CZ" sz="3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prezentujeme číselné údaje?</a:t>
            </a:r>
            <a:endParaRPr lang="cs-CZ" sz="3000" b="1" kern="100" dirty="0">
              <a:solidFill>
                <a:srgbClr val="0F476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cs-CZ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Číslice (symboly)</a:t>
            </a:r>
            <a:endParaRPr lang="cs-CZ" sz="3000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číselné údaje väčšie ako 10 → zapisujeme číslicou, </a:t>
            </a:r>
            <a:r>
              <a:rPr lang="sk-SK" sz="3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t.j</a:t>
            </a:r>
            <a:r>
              <a:rPr lang="sk-SK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sk-SK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znakom (symbolom) </a:t>
            </a:r>
            <a:endParaRPr lang="cs-CZ" sz="3000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endParaRPr lang="sk-SK" sz="30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vyjadrenie percent, </a:t>
            </a:r>
            <a:r>
              <a:rPr lang="sk-SK" sz="30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percentilov</a:t>
            </a:r>
            <a:r>
              <a:rPr lang="sk-SK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 pomerov, výsledky štatistických analýz a matematické funkcie prezentácia čísel, ktoré predchádzajú mernej jednotke, body na stupnici</a:t>
            </a:r>
            <a:endParaRPr lang="cs-CZ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910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A2D80-D622-5004-8681-2AE2539E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D9508BD4-CB25-90B8-249D-037EDDAC7FE6}"/>
              </a:ext>
            </a:extLst>
          </p:cNvPr>
          <p:cNvSpPr txBox="1"/>
          <p:nvPr/>
        </p:nvSpPr>
        <p:spPr>
          <a:xfrm>
            <a:off x="577272" y="544829"/>
            <a:ext cx="11037455" cy="397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cs-CZ" sz="3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Akým</a:t>
            </a:r>
            <a:r>
              <a:rPr lang="cs-CZ" sz="3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3000" b="1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spôsobom</a:t>
            </a:r>
            <a:r>
              <a:rPr lang="cs-CZ" sz="3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prezentujeme číselné údaje?</a:t>
            </a:r>
            <a:endParaRPr lang="cs-CZ" sz="3000" b="1" kern="100" dirty="0">
              <a:solidFill>
                <a:srgbClr val="0F476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cs-CZ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Slovné vyjadrenia</a:t>
            </a: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endParaRPr lang="cs-CZ" sz="3000" b="1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hodnoty nižšie ako 10 </a:t>
            </a:r>
            <a:endParaRPr lang="cs-CZ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vyjadrenie bežných zlomkov </a:t>
            </a:r>
            <a:endParaRPr lang="cs-CZ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300"/>
              </a:spcAft>
              <a:buNone/>
            </a:pPr>
            <a:r>
              <a:rPr lang="sk-SK" sz="3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údaje prezentované na začiatku vety </a:t>
            </a:r>
            <a:endParaRPr lang="cs-CZ" sz="30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25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F96B4-9567-B29B-C58D-1EA39A47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5C2EE3C2-89D0-F563-2060-3861BF536754}"/>
              </a:ext>
            </a:extLst>
          </p:cNvPr>
          <p:cNvSpPr txBox="1"/>
          <p:nvPr/>
        </p:nvSpPr>
        <p:spPr>
          <a:xfrm>
            <a:off x="577272" y="544829"/>
            <a:ext cx="1103745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Zápis </a:t>
            </a:r>
            <a:r>
              <a:rPr lang="cs-CZ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desatinných</a:t>
            </a:r>
            <a:r>
              <a:rPr lang="cs-CZ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čísel</a:t>
            </a:r>
          </a:p>
          <a:p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zaokrúhľovanie na dve / tri desatinné miesta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zápis konkrétnej p-hodnoty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desatinná bodka </a:t>
            </a:r>
            <a:r>
              <a:rPr lang="sk-S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čiarka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 hodnotách, ktoré teoreticky nemôžu presiahnuť číslo jeden, pred desatinnú čiarku nulu nepíšeme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646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DC7F2-6B30-E70F-4902-28B65855A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516FD88C-FD31-95FC-E608-0BF06323CD7E}"/>
              </a:ext>
            </a:extLst>
          </p:cNvPr>
          <p:cNvSpPr txBox="1"/>
          <p:nvPr/>
        </p:nvSpPr>
        <p:spPr>
          <a:xfrm>
            <a:off x="577272" y="544829"/>
            <a:ext cx="1103745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Primeraný počet údajov v tabuľke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menej ako tri údaje → text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údaje v rozpätí 4 – 20 → tabuľka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vysoký počet údajov → graf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16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ECC0-FC76-94FD-71B7-B6F37A72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BD78CA43-2970-5D37-6C06-F5B248E180B4}"/>
              </a:ext>
            </a:extLst>
          </p:cNvPr>
          <p:cNvSpPr txBox="1"/>
          <p:nvPr/>
        </p:nvSpPr>
        <p:spPr>
          <a:xfrm>
            <a:off x="577272" y="544829"/>
            <a:ext cx="110374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prezentácia bez anglických slov a počítačových názvov (vrátane grafov)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 legende nevysvetľujeme skratky a symboly bežne prezentovaných štatistík (M, SD, F, t, </a:t>
            </a:r>
            <a:r>
              <a:rPr lang="sk-S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p, N, </a:t>
            </a:r>
            <a:r>
              <a:rPr lang="sk-SK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ani označenia gréckymi písmenami (α, β, η, λ)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645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A4860-722C-B6F9-7428-BFA7B5C7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4A7DA804-0A1D-1C6B-CE9C-43015B4E8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31030"/>
              </p:ext>
            </p:extLst>
          </p:nvPr>
        </p:nvGraphicFramePr>
        <p:xfrm>
          <a:off x="611188" y="1416050"/>
          <a:ext cx="11072812" cy="479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75241" imgH="2501664" progId="Word.Document.12">
                  <p:embed/>
                </p:oleObj>
              </mc:Choice>
              <mc:Fallback>
                <p:oleObj name="Document" r:id="rId2" imgW="5775241" imgH="2501664" progId="Word.Document.12">
                  <p:embed/>
                  <p:pic>
                    <p:nvPicPr>
                      <p:cNvPr id="4" name="Objek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1188" y="1416050"/>
                        <a:ext cx="11072812" cy="4795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4362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462923"/>
              </p:ext>
            </p:extLst>
          </p:nvPr>
        </p:nvGraphicFramePr>
        <p:xfrm>
          <a:off x="185570" y="1384662"/>
          <a:ext cx="11715255" cy="44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5761150" imgH="2167278" progId="Word.Document.12">
                  <p:embed/>
                </p:oleObj>
              </mc:Choice>
              <mc:Fallback>
                <p:oleObj name="Dokument" r:id="rId2" imgW="5761150" imgH="21672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5570" y="1384662"/>
                        <a:ext cx="11715255" cy="4406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5033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580210"/>
              </p:ext>
            </p:extLst>
          </p:nvPr>
        </p:nvGraphicFramePr>
        <p:xfrm>
          <a:off x="1001486" y="701441"/>
          <a:ext cx="9980022" cy="6156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5761150" imgH="4463080" progId="Word.Document.12">
                  <p:embed/>
                </p:oleObj>
              </mc:Choice>
              <mc:Fallback>
                <p:oleObj name="Dokument" r:id="rId2" imgW="5761150" imgH="44630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1486" y="701441"/>
                        <a:ext cx="9980022" cy="6156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953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900179"/>
              </p:ext>
            </p:extLst>
          </p:nvPr>
        </p:nvGraphicFramePr>
        <p:xfrm>
          <a:off x="1367245" y="646861"/>
          <a:ext cx="9152709" cy="6353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5761150" imgH="3998664" progId="Word.Document.12">
                  <p:embed/>
                </p:oleObj>
              </mc:Choice>
              <mc:Fallback>
                <p:oleObj name="Dokument" r:id="rId2" imgW="5761150" imgH="39986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7245" y="646861"/>
                        <a:ext cx="9152709" cy="6353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4156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141344"/>
              </p:ext>
            </p:extLst>
          </p:nvPr>
        </p:nvGraphicFramePr>
        <p:xfrm>
          <a:off x="1451788" y="1985554"/>
          <a:ext cx="9544325" cy="272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5761150" imgH="1645979" progId="Word.Document.12">
                  <p:embed/>
                </p:oleObj>
              </mc:Choice>
              <mc:Fallback>
                <p:oleObj name="Dokument" r:id="rId2" imgW="5761150" imgH="16459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51788" y="1985554"/>
                        <a:ext cx="9544325" cy="272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0751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278617"/>
              </p:ext>
            </p:extLst>
          </p:nvPr>
        </p:nvGraphicFramePr>
        <p:xfrm>
          <a:off x="891306" y="2584909"/>
          <a:ext cx="10522820" cy="1925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5761150" imgH="1054478" progId="Word.Document.12">
                  <p:embed/>
                </p:oleObj>
              </mc:Choice>
              <mc:Fallback>
                <p:oleObj name="Dokument" r:id="rId2" imgW="5761150" imgH="10544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91306" y="2584909"/>
                        <a:ext cx="10522820" cy="19253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8753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157731"/>
              </p:ext>
            </p:extLst>
          </p:nvPr>
        </p:nvGraphicFramePr>
        <p:xfrm>
          <a:off x="530186" y="2124892"/>
          <a:ext cx="11184741" cy="2995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5761150" imgH="1543015" progId="Word.Document.12">
                  <p:embed/>
                </p:oleObj>
              </mc:Choice>
              <mc:Fallback>
                <p:oleObj name="Dokument" r:id="rId2" imgW="5761150" imgH="15430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0186" y="2124892"/>
                        <a:ext cx="11184741" cy="29957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2443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870970"/>
              </p:ext>
            </p:extLst>
          </p:nvPr>
        </p:nvGraphicFramePr>
        <p:xfrm>
          <a:off x="564740" y="1288870"/>
          <a:ext cx="11141470" cy="4955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kument" r:id="rId2" imgW="5761150" imgH="2561492" progId="Word.Document.12">
                  <p:embed/>
                </p:oleObj>
              </mc:Choice>
              <mc:Fallback>
                <p:oleObj name="Dokument" r:id="rId2" imgW="5761150" imgH="25614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4740" y="1288870"/>
                        <a:ext cx="11141470" cy="4955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5767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75A70-331D-6E40-E620-685D018B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9D5D350A-64D1-A3DB-8233-104213ADE0CE}"/>
              </a:ext>
            </a:extLst>
          </p:cNvPr>
          <p:cNvSpPr txBox="1"/>
          <p:nvPr/>
        </p:nvSpPr>
        <p:spPr>
          <a:xfrm>
            <a:off x="577272" y="544829"/>
            <a:ext cx="110374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Korektný jazyk</a:t>
            </a:r>
          </a:p>
          <a:p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zaujatosť (témy, skupiny)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zdôrazňovanie určitej skupiny ako „normy“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používanie podstatných mien pre označenie členov sociálnych kategórií 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nezohľadnenie názoru členov sociálnych skupín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nerozlišovanie </a:t>
            </a:r>
            <a:r>
              <a:rPr lang="sk-S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pohlavie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nezohľadňovanie rodovej identity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495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871E-2BBF-0F39-501E-5923A5FE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2">
            <a:extLst>
              <a:ext uri="{FF2B5EF4-FFF2-40B4-BE49-F238E27FC236}">
                <a16:creationId xmlns:a16="http://schemas.microsoft.com/office/drawing/2014/main" id="{C6DFC8E0-81F0-A458-58B0-25AD675B54F6}"/>
              </a:ext>
            </a:extLst>
          </p:cNvPr>
          <p:cNvSpPr txBox="1"/>
          <p:nvPr/>
        </p:nvSpPr>
        <p:spPr>
          <a:xfrm>
            <a:off x="577272" y="1376102"/>
            <a:ext cx="110374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k-SK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„Aké pohlavie Vám bolo priradené pri narodení a je zapísané vo Vašom rodnom liste?“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(ženské, mužské, neviem, nechcem odpovedať)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k-SK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Aký je Váš súčasný rod?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(ženský, mužský, </a:t>
            </a:r>
            <a:r>
              <a:rPr lang="sk-S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transgender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uprednostňujem </a:t>
            </a:r>
            <a:r>
              <a:rPr lang="sk-SK" sz="3000">
                <a:latin typeface="Times New Roman" panose="02020603050405020304" pitchFamily="18" charset="0"/>
                <a:cs typeface="Times New Roman" panose="02020603050405020304" pitchFamily="18" charset="0"/>
              </a:rPr>
              <a:t>iný výraz)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Administrácia škál </a:t>
            </a:r>
            <a:r>
              <a:rPr lang="sk-S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maskulinity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 </a:t>
            </a:r>
            <a:r>
              <a:rPr lang="sk-SK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feminity</a:t>
            </a:r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k-SK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cs-CZ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04827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271</Words>
  <Application>Microsoft Office PowerPoint</Application>
  <PresentationFormat>Širokouhlá</PresentationFormat>
  <Paragraphs>43</Paragraphs>
  <Slides>15</Slides>
  <Notes>0</Notes>
  <HiddenSlides>0</HiddenSlides>
  <MMClips>0</MMClips>
  <ScaleCrop>false</ScaleCrop>
  <HeadingPairs>
    <vt:vector size="8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Vložené servery OLE</vt:lpstr>
      </vt:variant>
      <vt:variant>
        <vt:i4>2</vt:i4>
      </vt:variant>
      <vt:variant>
        <vt:lpstr>Nadpisy snímok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Motív balíka Office</vt:lpstr>
      <vt:lpstr>Document</vt:lpstr>
      <vt:lpstr>Dokument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neurologia</dc:creator>
  <cp:lastModifiedBy>PhDr. Veronika Boleková, PhD.</cp:lastModifiedBy>
  <cp:revision>6</cp:revision>
  <dcterms:created xsi:type="dcterms:W3CDTF">2023-10-09T19:38:57Z</dcterms:created>
  <dcterms:modified xsi:type="dcterms:W3CDTF">2025-12-01T11:01:55Z</dcterms:modified>
</cp:coreProperties>
</file>